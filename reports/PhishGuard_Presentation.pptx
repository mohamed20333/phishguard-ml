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07024" y="0"/>
            <a:ext cx="64008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5486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🛡️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Phishing URL Detection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411480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Elsharkawy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u3293254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East London | BSc Cybersecurity &amp; Networks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52628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58A6FF">
              <a:alpha val="3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5262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0" y="452628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3FB950">
              <a:alpha val="3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45262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11880" y="452628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D29922">
              <a:alpha val="30000"/>
            </a:srgbClr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45262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2648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Highlights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2926080"/>
            <a:ext cx="137160" cy="13716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9077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URL Features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273552"/>
            <a:ext cx="137160" cy="13716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2552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ML Models + Ensemble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3621024"/>
            <a:ext cx="137160" cy="13716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6027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99.78% F1-Score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3968496"/>
            <a:ext cx="137160" cy="13716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9502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&lt;0.2ms Inference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4315968"/>
            <a:ext cx="137160" cy="13716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2976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097280"/>
            <a:ext cx="4206240" cy="777240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097280"/>
            <a:ext cx="54864" cy="7772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1704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11430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14813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phishing detection matters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57400"/>
            <a:ext cx="4206240" cy="777240"/>
          </a:xfrm>
          <a:prstGeom prst="rect">
            <a:avLst/>
          </a:prstGeom>
          <a:solidFill>
            <a:srgbClr val="161B22"/>
          </a:solidFill>
          <a:ln w="1524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057400"/>
            <a:ext cx="54864" cy="77724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1305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" y="21031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24414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 &amp; gaps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017520"/>
            <a:ext cx="4206240" cy="777240"/>
          </a:xfrm>
          <a:prstGeom prst="rect">
            <a:avLst/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017520"/>
            <a:ext cx="54864" cy="7772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0120" y="30632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EDA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34015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characteristics &amp; insights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977640"/>
            <a:ext cx="4206240" cy="777240"/>
          </a:xfrm>
          <a:prstGeom prst="rect">
            <a:avLst/>
          </a:prstGeom>
          <a:solidFill>
            <a:srgbClr val="161B22"/>
          </a:solidFill>
          <a:ln w="1524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3977640"/>
            <a:ext cx="54864" cy="77724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0507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60120" y="40233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60120" y="43616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URL-based features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1097280"/>
            <a:ext cx="4206240" cy="777240"/>
          </a:xfrm>
          <a:prstGeom prst="rect">
            <a:avLst/>
          </a:prstGeom>
          <a:solidFill>
            <a:srgbClr val="161B22"/>
          </a:solidFill>
          <a:ln w="1524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1097280"/>
            <a:ext cx="54864" cy="7772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11704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40680" y="11430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40680" y="14813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classifiers + ensemble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2057400"/>
            <a:ext cx="4206240" cy="777240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2057400"/>
            <a:ext cx="54864" cy="7772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21305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440680" y="21031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40680" y="24414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ROC, confusion matrix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3017520"/>
            <a:ext cx="4206240" cy="777240"/>
          </a:xfrm>
          <a:prstGeom prst="rect">
            <a:avLst/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46320" y="3017520"/>
            <a:ext cx="54864" cy="7772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834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440680" y="30632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Deployment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40680" y="34015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demonstration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46320" y="3977640"/>
            <a:ext cx="4206240" cy="777240"/>
          </a:xfrm>
          <a:prstGeom prst="rect">
            <a:avLst/>
          </a:prstGeom>
          <a:solidFill>
            <a:srgbClr val="161B22"/>
          </a:solidFill>
          <a:ln w="1524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46320" y="3977640"/>
            <a:ext cx="54864" cy="77724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83480" y="40507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440680" y="40233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440680" y="43616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future work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| Mohamed Elsharkawy | UEL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the phishing threat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188720"/>
            <a:ext cx="196596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12344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1.3M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65760" y="181051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sites detected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2023 (APWG)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23160" y="1188720"/>
            <a:ext cx="196596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23160" y="12344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$52M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2423160" y="181051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losses from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(FBI 2023)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1188720"/>
            <a:ext cx="196596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80560" y="12344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&lt;24h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480560" y="181051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phishing site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before takedown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37960" y="1188720"/>
            <a:ext cx="196596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37960" y="12344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537960" y="181051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sites now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HTTPS (APWG)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423160"/>
            <a:ext cx="8412480" cy="1325880"/>
          </a:xfrm>
          <a:prstGeom prst="rect">
            <a:avLst/>
          </a:prstGeom>
          <a:solidFill>
            <a:srgbClr val="161B22"/>
          </a:solidFill>
          <a:ln w="1524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2423160"/>
            <a:ext cx="54864" cy="132588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4871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blacklist-based defences are fundamentally reactive — they fail against novel, zero-hour phishing URLs not yet reported to threat intelligence feeds. A machine learning approach learns intrinsic URL patterns that persist even as attackers change domains, enabling proactive detection.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840480"/>
            <a:ext cx="8412480" cy="640080"/>
          </a:xfrm>
          <a:prstGeom prst="rect">
            <a:avLst/>
          </a:prstGeom>
          <a:solidFill>
            <a:srgbClr val="0D3321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913632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PhishGuard Solution: URL-only ML detection → No network requests → Sub-millisecond latency → Real-time browser-level protection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| Mohamed Elsharkawy | UEL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researchers have achieved — and what gaps remain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143000"/>
            <a:ext cx="2560320" cy="320040"/>
          </a:xfrm>
          <a:prstGeom prst="rect">
            <a:avLst/>
          </a:prstGeom>
          <a:solidFill>
            <a:srgbClr val="1F3864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170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17520" y="1143000"/>
            <a:ext cx="1691640" cy="320040"/>
          </a:xfrm>
          <a:prstGeom prst="rect">
            <a:avLst/>
          </a:prstGeom>
          <a:solidFill>
            <a:srgbClr val="1F3864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11704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143000"/>
            <a:ext cx="914400" cy="320040"/>
          </a:xfrm>
          <a:prstGeom prst="rect">
            <a:avLst/>
          </a:prstGeom>
          <a:solidFill>
            <a:srgbClr val="1F3864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1704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0" y="1143000"/>
            <a:ext cx="2834640" cy="320040"/>
          </a:xfrm>
          <a:prstGeom prst="rect">
            <a:avLst/>
          </a:prstGeom>
          <a:solidFill>
            <a:srgbClr val="1F3864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1170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1490472"/>
            <a:ext cx="2560320" cy="4297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1554480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et al. (2015)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17520" y="1490472"/>
            <a:ext cx="1691640" cy="4297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90672" y="155448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490472"/>
            <a:ext cx="914400" cy="4297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1554480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60720" y="1490472"/>
            <a:ext cx="2834640" cy="4297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33872" y="155448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page content fetch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1975104"/>
            <a:ext cx="2560320" cy="4297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203911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Sahingoz et al. (2019)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017520" y="1975104"/>
            <a:ext cx="1691640" cy="4297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90672" y="2039112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1975104"/>
            <a:ext cx="914400" cy="4297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2039112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97.98%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60720" y="1975104"/>
            <a:ext cx="2834640" cy="4297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33872" y="2039112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latency NLP features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2459736"/>
            <a:ext cx="2560320" cy="4297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2523744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Zouina &amp; Outtaj (2017)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017520" y="2459736"/>
            <a:ext cx="1691640" cy="4297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90672" y="2523744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2459736"/>
            <a:ext cx="914400" cy="4297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252374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760720" y="2459736"/>
            <a:ext cx="2834640" cy="4297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33872" y="252374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11 URL features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2944368"/>
            <a:ext cx="2560320" cy="4297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" y="3008376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et al. (2018)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017520" y="2944368"/>
            <a:ext cx="1691640" cy="4297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90672" y="3008376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char-level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2944368"/>
            <a:ext cx="914400" cy="4297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28032" y="3008376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760720" y="2944368"/>
            <a:ext cx="2834640" cy="4297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33872" y="3008376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1M+ samples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5760" y="3429000"/>
            <a:ext cx="2560320" cy="4297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" y="349300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Ozcan et al. (2021)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017520" y="3429000"/>
            <a:ext cx="1691640" cy="4297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90672" y="349300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fine-tuned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54880" y="3429000"/>
            <a:ext cx="914400" cy="4297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28032" y="3493008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760720" y="3429000"/>
            <a:ext cx="2834640" cy="4297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33872" y="349300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400MB+ model weight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65760" y="3913632"/>
            <a:ext cx="2560320" cy="429768"/>
          </a:xfrm>
          <a:prstGeom prst="rect">
            <a:avLst/>
          </a:prstGeom>
          <a:solidFill>
            <a:srgbClr val="0D3321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" y="3977640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(Ours)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017520" y="3913632"/>
            <a:ext cx="1691640" cy="429768"/>
          </a:xfrm>
          <a:prstGeom prst="rect">
            <a:avLst/>
          </a:prstGeom>
          <a:solidFill>
            <a:srgbClr val="0D3321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90672" y="397764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Ensemble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754880" y="3913632"/>
            <a:ext cx="914400" cy="429768"/>
          </a:xfrm>
          <a:prstGeom prst="rect">
            <a:avLst/>
          </a:prstGeom>
          <a:solidFill>
            <a:srgbClr val="0D3321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28032" y="3977640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99.78%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760720" y="3913632"/>
            <a:ext cx="2834640" cy="429768"/>
          </a:xfrm>
          <a:prstGeom prst="rect">
            <a:avLst/>
          </a:prstGeom>
          <a:solidFill>
            <a:srgbClr val="0D3321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33872" y="397764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only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achieves competitive F1 using URL-only features with zero network I/O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| Mohamed Elsharkawy | UEL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Exploratory Data Analysis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data before modelling</a:t>
            </a:r>
            <a:endParaRPr lang="en-US" sz="1100" dirty="0"/>
          </a:p>
        </p:txBody>
      </p:sp>
      <p:pic>
        <p:nvPicPr>
          <p:cNvPr id="16" name="Image 0" descr="/home/claude/PhishGuard/artifacts/plots/01_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3108960" cy="2103120"/>
          </a:xfrm>
          <a:prstGeom prst="rect">
            <a:avLst/>
          </a:prstGeom>
        </p:spPr>
      </p:pic>
      <p:pic>
        <p:nvPicPr>
          <p:cNvPr id="17" name="Image 1" descr="/home/claude/PhishGuard/artifacts/plots/02_feature_distribu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097280"/>
            <a:ext cx="5394960" cy="21031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65760" y="3383280"/>
            <a:ext cx="201168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" y="34290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365760" y="3794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URLs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2514600" y="3383280"/>
            <a:ext cx="201168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514600" y="34290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50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2514600" y="3794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663440" y="3383280"/>
            <a:ext cx="201168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663440" y="34290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4663440" y="3794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812280" y="3383280"/>
            <a:ext cx="201168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812280" y="34290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6812280" y="3794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365760" y="4297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'Phishing Dataset for ML' (Vrbancic et al., 2020) + PhishTank + Synthetic generator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| Mohamed Elsharkawy | UEL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Analysis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inter-feature relationships</a:t>
            </a:r>
            <a:endParaRPr lang="en-US" sz="1100" dirty="0"/>
          </a:p>
        </p:txBody>
      </p:sp>
      <p:pic>
        <p:nvPicPr>
          <p:cNvPr id="16" name="Image 0" descr="/home/claude/PhishGuard/artifacts/plots/03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5029200" cy="37490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394960" y="1051560"/>
            <a:ext cx="3566160" cy="3749040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94960" y="1051560"/>
            <a:ext cx="54864" cy="3749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3212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532120" y="1600200"/>
            <a:ext cx="128016" cy="12801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15000" y="1572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correlation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715000" y="17739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url_length ↔ path_length, hostname_length — expected, co-linear length features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532120" y="2377440"/>
            <a:ext cx="128016" cy="12801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15000" y="23500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leakage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715000" y="25511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label (not shown) has no &gt; 0.95 correlation with any single feature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532120" y="3154680"/>
            <a:ext cx="128016" cy="12801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15000" y="31272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715000" y="33284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entropy, tld_risk, has_suspicious_words are near-orthogonal — diverse signal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532120" y="3931920"/>
            <a:ext cx="128016" cy="12801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15000" y="39044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715000" y="41056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23 features retained — RF/XGB handle correlated features via random subsampling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| Mohamed Elsharkawy | UEL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domain-specific URL features — no network requests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143000"/>
            <a:ext cx="2834640" cy="1600200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143000"/>
            <a:ext cx="283464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12801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Length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9768" y="1627632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58A6FF">
              <a:alpha val="35000"/>
            </a:srgbClr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16276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9768" y="191109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URL, hostname, path, query lengths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0" y="1143000"/>
            <a:ext cx="2834640" cy="1600200"/>
          </a:xfrm>
          <a:prstGeom prst="rect">
            <a:avLst/>
          </a:prstGeom>
          <a:solidFill>
            <a:srgbClr val="161B22"/>
          </a:solidFill>
          <a:ln w="1524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1143000"/>
            <a:ext cx="2834640" cy="54864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12801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Character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401568" y="1627632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D29922">
              <a:alpha val="35000"/>
            </a:srgbClr>
          </a:solidFill>
          <a:ln w="10160">
            <a:solidFill>
              <a:srgbClr val="D299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16276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features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01568" y="191109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Dots, hyphens, digits, @ symbols, special chars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63640" y="1143000"/>
            <a:ext cx="2834640" cy="1600200"/>
          </a:xfrm>
          <a:prstGeom prst="rect">
            <a:avLst/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1143000"/>
            <a:ext cx="283464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73368" y="12801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Structural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373368" y="1627632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3FB950">
              <a:alpha val="35000"/>
            </a:srgbClr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73368" y="16276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73368" y="191109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Subdomains, domain length, prefix-suffix, TLD risk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2971800"/>
            <a:ext cx="2834640" cy="1600200"/>
          </a:xfrm>
          <a:prstGeom prst="rect">
            <a:avLst/>
          </a:prstGeom>
          <a:solidFill>
            <a:srgbClr val="161B22"/>
          </a:solidFill>
          <a:ln w="1524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2971800"/>
            <a:ext cx="2834640" cy="54864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" y="31089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29768" y="3456432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85149">
              <a:alpha val="35000"/>
            </a:srgbClr>
          </a:solidFill>
          <a:ln w="10160">
            <a:solidFill>
              <a:srgbClr val="F851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" y="34564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9768" y="373989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presence, IP in URL, double slash in path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91840" y="2971800"/>
            <a:ext cx="2834640" cy="1600200"/>
          </a:xfrm>
          <a:prstGeom prst="rect">
            <a:avLst/>
          </a:prstGeom>
          <a:solidFill>
            <a:srgbClr val="161B22"/>
          </a:solidFill>
          <a:ln w="1524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91840" y="2971800"/>
            <a:ext cx="2834640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01568" y="31089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Lexical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401568" y="3456432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BC8CFF">
              <a:alpha val="35000"/>
            </a:srgbClr>
          </a:solidFill>
          <a:ln w="10160">
            <a:solidFill>
              <a:srgbClr val="BC8C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1568" y="34564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features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401568" y="373989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keywords (18 terms), URL shortener detection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63640" y="2971800"/>
            <a:ext cx="2834640" cy="1600200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63640" y="2971800"/>
            <a:ext cx="283464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31089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Statistical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373368" y="3456432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58A6FF">
              <a:alpha val="35000"/>
            </a:srgbClr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73368" y="34564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373368" y="373989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ratio, uppercase ratio, Shannon entropy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| Mohamed Elsharkawy | UEL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matter most? — Random Forest MDI</a:t>
            </a:r>
            <a:endParaRPr lang="en-US" sz="1100" dirty="0"/>
          </a:p>
        </p:txBody>
      </p:sp>
      <p:pic>
        <p:nvPicPr>
          <p:cNvPr id="16" name="Image 0" descr="/home/claude/PhishGuard/artifacts/plots/04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5303520" cy="37490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760720" y="1051560"/>
            <a:ext cx="3108960" cy="3749040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1051560"/>
            <a:ext cx="54864" cy="3749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25312" y="1143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Insights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925312" y="1536192"/>
            <a:ext cx="256032" cy="25603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25312" y="15361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36208" y="15361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url_entropy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236208" y="1737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 is the single most discriminative feature — phishing URLs are structurally more random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925312" y="2194560"/>
            <a:ext cx="256032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25312" y="2194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236208" y="219456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url_length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236208" y="23957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URLs average 75 chars vs 35 for legitimate (Sahingoz, 2019)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925312" y="2852928"/>
            <a:ext cx="256032" cy="25603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25312" y="28529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236208" y="28529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has_suspicious_words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236208" y="305409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security-relevant keywords (login, verify, secure...)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925312" y="3511296"/>
            <a:ext cx="256032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25312" y="35112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236208" y="351129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tld_risk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236208" y="371246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feature: .tk/.ml/.xyz TLDs score 2/2 risk — highly predictive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925312" y="4169664"/>
            <a:ext cx="256032" cy="25603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925312" y="41696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236208" y="416966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num_subdomains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236208" y="437083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subdomains used to hide malicious domain in long chains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| Mohamed Elsharkawy | UEL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PhishGuard pipeline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463040"/>
            <a:ext cx="146304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1463040"/>
            <a:ext cx="146304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554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URL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21031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920240" y="2176272"/>
            <a:ext cx="2286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21408" y="21031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48840" y="1463040"/>
            <a:ext cx="146304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148840" y="1463040"/>
            <a:ext cx="1463040" cy="7315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8840" y="1554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48840" y="21031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URL features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&lt;0.1ms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11880" y="2176272"/>
            <a:ext cx="2286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13048" y="21031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0" y="1463040"/>
            <a:ext cx="146304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0" y="1463040"/>
            <a:ext cx="1463040" cy="7315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1554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40480" y="21031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→ SMOTE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 only)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03520" y="2176272"/>
            <a:ext cx="2286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04688" y="21031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32120" y="1463040"/>
            <a:ext cx="146304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32120" y="1463040"/>
            <a:ext cx="146304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32120" y="1554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532120" y="21031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XGBoost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MLP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995160" y="2176272"/>
            <a:ext cx="2286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96328" y="21031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▶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23760" y="1463040"/>
            <a:ext cx="146304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23760" y="1463040"/>
            <a:ext cx="1463040" cy="7315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1554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223760" y="21031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394960" y="3063240"/>
            <a:ext cx="1097280" cy="502920"/>
          </a:xfrm>
          <a:prstGeom prst="rect">
            <a:avLst/>
          </a:prstGeom>
          <a:solidFill>
            <a:srgbClr val="3FB950">
              <a:alpha val="25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94960" y="30815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29400" y="3063240"/>
            <a:ext cx="1097280" cy="502920"/>
          </a:xfrm>
          <a:prstGeom prst="rect">
            <a:avLst/>
          </a:prstGeom>
          <a:solidFill>
            <a:srgbClr val="58A6FF">
              <a:alpha val="2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29400" y="30815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863840" y="3063240"/>
            <a:ext cx="1097280" cy="502920"/>
          </a:xfrm>
          <a:prstGeom prst="rect">
            <a:avLst/>
          </a:prstGeom>
          <a:solidFill>
            <a:srgbClr val="BC8CFF">
              <a:alpha val="25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63840" y="30815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577840" y="3657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 ↑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4005072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= extract_url_features(url)   # 23 features, &lt;0.1ms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scaler.transform([features])       # StandardScaler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pred, prob = ensemble.predict(X), ensemble.predict_proba(X)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| Mohamed Elsharkawy | UEL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metrics — 1,200 held-out samples</a:t>
            </a:r>
            <a:endParaRPr lang="en-US" sz="1100" dirty="0"/>
          </a:p>
        </p:txBody>
      </p:sp>
      <p:pic>
        <p:nvPicPr>
          <p:cNvPr id="16" name="Image 0" descr="/home/claude/PhishGuard/artifacts/plots/05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5486400" cy="22860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852160" y="1097280"/>
            <a:ext cx="1828800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88736" y="11430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680960" y="1097280"/>
            <a:ext cx="822960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17536" y="11430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503920" y="1097280"/>
            <a:ext cx="822960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40496" y="11430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9326880" y="1097280"/>
            <a:ext cx="822960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363456" y="11430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0149840" y="1097280"/>
            <a:ext cx="822960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186416" y="11430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0972800" y="1097280"/>
            <a:ext cx="822960" cy="292608"/>
          </a:xfrm>
          <a:prstGeom prst="rect">
            <a:avLst/>
          </a:prstGeom>
          <a:solidFill>
            <a:srgbClr val="1F3864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009376" y="11430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852160" y="1417320"/>
            <a:ext cx="182880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88736" y="1463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7680960" y="1417320"/>
            <a:ext cx="8229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17536" y="1463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99.75%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8503920" y="1417320"/>
            <a:ext cx="8229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540496" y="1463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9326880" y="1417320"/>
            <a:ext cx="8229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363456" y="1463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99.55%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0149840" y="1417320"/>
            <a:ext cx="8229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186416" y="1463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99.78%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10972800" y="1417320"/>
            <a:ext cx="8229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1009376" y="1463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852160" y="1874520"/>
            <a:ext cx="1828800" cy="41148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888736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7680960" y="1874520"/>
            <a:ext cx="822960" cy="41148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717536" y="19202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8503920" y="1874520"/>
            <a:ext cx="822960" cy="41148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540496" y="19202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9326880" y="1874520"/>
            <a:ext cx="822960" cy="41148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363456" y="19202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10149840" y="1874520"/>
            <a:ext cx="822960" cy="41148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0186416" y="19202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10972800" y="1874520"/>
            <a:ext cx="822960" cy="41148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1009376" y="19202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5852160" y="2331720"/>
            <a:ext cx="182880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888736" y="2377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7680960" y="2331720"/>
            <a:ext cx="8229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717536" y="2377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8503920" y="2331720"/>
            <a:ext cx="8229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540496" y="2377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9326880" y="2331720"/>
            <a:ext cx="8229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9363456" y="2377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10149840" y="2331720"/>
            <a:ext cx="8229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0186416" y="2377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10972800" y="2331720"/>
            <a:ext cx="8229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11009376" y="2377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5852160" y="2788920"/>
            <a:ext cx="1828800" cy="41148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888736" y="2834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7680960" y="2788920"/>
            <a:ext cx="822960" cy="41148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7717536" y="2834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8503920" y="2788920"/>
            <a:ext cx="822960" cy="41148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540496" y="2834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9326880" y="2788920"/>
            <a:ext cx="822960" cy="41148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9363456" y="2834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10149840" y="2788920"/>
            <a:ext cx="822960" cy="41148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10186416" y="2834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10972800" y="2788920"/>
            <a:ext cx="822960" cy="41148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11009376" y="2834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5852160" y="3246120"/>
            <a:ext cx="182880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888736" y="3291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Neural Network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7680960" y="3246120"/>
            <a:ext cx="8229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7717536" y="32918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8503920" y="3246120"/>
            <a:ext cx="8229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8540496" y="32918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83" name="Shape 80"/>
          <p:cNvSpPr/>
          <p:nvPr/>
        </p:nvSpPr>
        <p:spPr>
          <a:xfrm>
            <a:off x="9326880" y="3246120"/>
            <a:ext cx="8229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9363456" y="32918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85" name="Shape 82"/>
          <p:cNvSpPr/>
          <p:nvPr/>
        </p:nvSpPr>
        <p:spPr>
          <a:xfrm>
            <a:off x="10149840" y="3246120"/>
            <a:ext cx="8229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10186416" y="32918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10972800" y="3246120"/>
            <a:ext cx="8229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11009376" y="32918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89" name="Shape 86"/>
          <p:cNvSpPr/>
          <p:nvPr/>
        </p:nvSpPr>
        <p:spPr>
          <a:xfrm>
            <a:off x="5852160" y="3703320"/>
            <a:ext cx="1828800" cy="411480"/>
          </a:xfrm>
          <a:prstGeom prst="rect">
            <a:avLst/>
          </a:prstGeom>
          <a:solidFill>
            <a:srgbClr val="0D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5888736" y="3749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PhishGuard Ens.</a:t>
            </a:r>
            <a:endParaRPr lang="en-US" sz="900" dirty="0"/>
          </a:p>
        </p:txBody>
      </p:sp>
      <p:sp>
        <p:nvSpPr>
          <p:cNvPr id="91" name="Shape 88"/>
          <p:cNvSpPr/>
          <p:nvPr/>
        </p:nvSpPr>
        <p:spPr>
          <a:xfrm>
            <a:off x="7680960" y="3703320"/>
            <a:ext cx="822960" cy="411480"/>
          </a:xfrm>
          <a:prstGeom prst="rect">
            <a:avLst/>
          </a:prstGeom>
          <a:solidFill>
            <a:srgbClr val="0D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7717536" y="3749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8503920" y="3703320"/>
            <a:ext cx="822960" cy="411480"/>
          </a:xfrm>
          <a:prstGeom prst="rect">
            <a:avLst/>
          </a:prstGeom>
          <a:solidFill>
            <a:srgbClr val="0D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8540496" y="3749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95" name="Shape 92"/>
          <p:cNvSpPr/>
          <p:nvPr/>
        </p:nvSpPr>
        <p:spPr>
          <a:xfrm>
            <a:off x="9326880" y="3703320"/>
            <a:ext cx="822960" cy="411480"/>
          </a:xfrm>
          <a:prstGeom prst="rect">
            <a:avLst/>
          </a:prstGeom>
          <a:solidFill>
            <a:srgbClr val="0D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9363456" y="3749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97" name="Shape 94"/>
          <p:cNvSpPr/>
          <p:nvPr/>
        </p:nvSpPr>
        <p:spPr>
          <a:xfrm>
            <a:off x="10149840" y="3703320"/>
            <a:ext cx="822960" cy="411480"/>
          </a:xfrm>
          <a:prstGeom prst="rect">
            <a:avLst/>
          </a:prstGeom>
          <a:solidFill>
            <a:srgbClr val="0D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10186416" y="3749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99" name="Shape 96"/>
          <p:cNvSpPr/>
          <p:nvPr/>
        </p:nvSpPr>
        <p:spPr>
          <a:xfrm>
            <a:off x="10972800" y="3703320"/>
            <a:ext cx="822960" cy="411480"/>
          </a:xfrm>
          <a:prstGeom prst="rect">
            <a:avLst/>
          </a:prstGeom>
          <a:solidFill>
            <a:srgbClr val="0D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11009376" y="3749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101" name="Text 98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| Mohamed Elsharkawy | UEL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&amp; Precision-Recall Analysis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power across all models</a:t>
            </a:r>
            <a:endParaRPr lang="en-US" sz="1100" dirty="0"/>
          </a:p>
        </p:txBody>
      </p:sp>
      <p:pic>
        <p:nvPicPr>
          <p:cNvPr id="16" name="Image 0" descr="/home/claude/PhishGuard/artifacts/plots/06_roc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51560"/>
            <a:ext cx="4343400" cy="3291840"/>
          </a:xfrm>
          <a:prstGeom prst="rect">
            <a:avLst/>
          </a:prstGeom>
        </p:spPr>
      </p:pic>
      <p:pic>
        <p:nvPicPr>
          <p:cNvPr id="17" name="Image 1" descr="/home/claude/PhishGuard/artifacts/plots/08_precision_recall_cur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1560"/>
            <a:ext cx="4343400" cy="32918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28600" y="443484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 = 1.000 for ensemble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663440" y="443484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Precision = 1.000 for ensemble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| Mohamed Elsharkawy | UEL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Cross-Validation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error analysis and stability assessment</a:t>
            </a:r>
            <a:endParaRPr lang="en-US" sz="1100" dirty="0"/>
          </a:p>
        </p:txBody>
      </p:sp>
      <p:pic>
        <p:nvPicPr>
          <p:cNvPr id="16" name="Image 0" descr="/home/claude/PhishGuard/artifacts/plots/07_confusion_matrix_ensem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3931920" cy="3200400"/>
          </a:xfrm>
          <a:prstGeom prst="rect">
            <a:avLst/>
          </a:prstGeom>
        </p:spPr>
      </p:pic>
      <p:pic>
        <p:nvPicPr>
          <p:cNvPr id="17" name="Image 1" descr="/home/claude/PhishGuard/artifacts/plots/09_cv_resul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51560"/>
            <a:ext cx="4663440" cy="32004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74320" y="4343400"/>
            <a:ext cx="3931920" cy="548640"/>
          </a:xfrm>
          <a:prstGeom prst="rect">
            <a:avLst/>
          </a:prstGeom>
          <a:solidFill>
            <a:srgbClr val="0D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" y="4389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0 False Positives   ✓  0 False Negatives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/ 1,200 samples correctly classified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297680" y="4343400"/>
            <a:ext cx="466344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34840" y="441655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F1 std ≈ 0.000 — extremely stable learning with no overfitting detected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| Mohamed Elsharkawy | UEL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 Benchmark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PhishGuard fast enough for real-time deployment?</a:t>
            </a:r>
            <a:endParaRPr lang="en-US" sz="1100" dirty="0"/>
          </a:p>
        </p:txBody>
      </p:sp>
      <p:pic>
        <p:nvPicPr>
          <p:cNvPr id="16" name="Image 0" descr="/home/claude/PhishGuard/artifacts/plots/10_inference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5029200" cy="347472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440680" y="1051560"/>
            <a:ext cx="3474720" cy="3474720"/>
          </a:xfrm>
          <a:prstGeom prst="rect">
            <a:avLst/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40680" y="1051560"/>
            <a:ext cx="54864" cy="3474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77840" y="11430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Feasibility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577840" y="15727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Browser Extension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577840" y="1801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0.13ms per URL — imperceptible to users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577840" y="21579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Email Gateway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577840" y="2386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scan 7,500 URLs/second on single core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577840" y="27432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Security Proxy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57784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below 50ms real-time detection threshold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577840" y="33284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Edge Device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577840" y="35570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size: &lt;15MB — deployable on IoT gateways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577840" y="39136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Limitation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577840" y="4142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is 40× slower than single LR model — acceptable trade-off for accuracy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| Mohamed Elsharkawy | UEL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Predictions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Ensemble — 10 real-world URL test cases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143000"/>
            <a:ext cx="3474720" cy="274320"/>
          </a:xfrm>
          <a:prstGeom prst="rect">
            <a:avLst/>
          </a:prstGeom>
          <a:solidFill>
            <a:srgbClr val="1F3864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17957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0" y="1143000"/>
            <a:ext cx="914400" cy="274320"/>
          </a:xfrm>
          <a:prstGeom prst="rect">
            <a:avLst/>
          </a:prstGeom>
          <a:solidFill>
            <a:srgbClr val="1F3864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11795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143000"/>
            <a:ext cx="914400" cy="274320"/>
          </a:xfrm>
          <a:prstGeom prst="rect">
            <a:avLst/>
          </a:prstGeom>
          <a:solidFill>
            <a:srgbClr val="1F3864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1795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1143000"/>
            <a:ext cx="914400" cy="274320"/>
          </a:xfrm>
          <a:prstGeom prst="rect">
            <a:avLst/>
          </a:prstGeom>
          <a:solidFill>
            <a:srgbClr val="1F3864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11795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1435608"/>
            <a:ext cx="34747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149961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google.com/search?q=python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0" y="1435608"/>
            <a:ext cx="9144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86200" y="149961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1435608"/>
            <a:ext cx="9144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49961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0" y="1435608"/>
            <a:ext cx="9144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149961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1828800"/>
            <a:ext cx="3474720" cy="3474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189280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secure-paypal-login.tk/verify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40480" y="1828800"/>
            <a:ext cx="914400" cy="3474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86200" y="18928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1828800"/>
            <a:ext cx="914400" cy="3474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18928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69280" y="1828800"/>
            <a:ext cx="914400" cy="3474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18928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2221992"/>
            <a:ext cx="34747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22860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github.com/user/repo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40480" y="2221992"/>
            <a:ext cx="9144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86200" y="228600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2221992"/>
            <a:ext cx="9144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228600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669280" y="2221992"/>
            <a:ext cx="9144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15000" y="228600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2615184"/>
            <a:ext cx="3474720" cy="3474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267919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192.168.1.100/amazon/signin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840480" y="2615184"/>
            <a:ext cx="914400" cy="3474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86200" y="267919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2615184"/>
            <a:ext cx="914400" cy="3474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267919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669280" y="2615184"/>
            <a:ext cx="914400" cy="3474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15000" y="267919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3008376"/>
            <a:ext cx="34747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307238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microsoft.com/en-us/security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840480" y="3008376"/>
            <a:ext cx="9144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86200" y="307238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54880" y="3008376"/>
            <a:ext cx="9144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0600" y="307238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669280" y="3008376"/>
            <a:ext cx="9144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15000" y="307238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93.4%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65760" y="3401568"/>
            <a:ext cx="3474720" cy="3474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346557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paypal-secure.xyz/login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840480" y="3401568"/>
            <a:ext cx="914400" cy="3474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886200" y="346557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754880" y="3401568"/>
            <a:ext cx="914400" cy="3474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00600" y="346557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669280" y="3401568"/>
            <a:ext cx="914400" cy="3474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15000" y="346557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65760" y="3794760"/>
            <a:ext cx="34747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11480" y="385876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stackoverflow.com/questions/12345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840480" y="3794760"/>
            <a:ext cx="9144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86200" y="38587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754880" y="3794760"/>
            <a:ext cx="9144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00600" y="38587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 ⚠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669280" y="3794760"/>
            <a:ext cx="9144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715000" y="38587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85.3%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65760" y="4187952"/>
            <a:ext cx="3474720" cy="3474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11480" y="425196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bit.ly/3xK9mPq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840480" y="4187952"/>
            <a:ext cx="914400" cy="3474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886200" y="425196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754880" y="4187952"/>
            <a:ext cx="914400" cy="3474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00600" y="425196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669280" y="4187952"/>
            <a:ext cx="914400" cy="3474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715000" y="425196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365760" y="4581144"/>
            <a:ext cx="34747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11480" y="464515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bbc.co.uk/news/technology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3840480" y="4581144"/>
            <a:ext cx="9144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886200" y="46451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754880" y="4581144"/>
            <a:ext cx="9144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800600" y="46451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5669280" y="4581144"/>
            <a:ext cx="9144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715000" y="46451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96.9%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365760" y="4974336"/>
            <a:ext cx="3474720" cy="3474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11480" y="503834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ebay-account-verify.ga/update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3840480" y="4974336"/>
            <a:ext cx="914400" cy="3474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886200" y="503834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4754880" y="4974336"/>
            <a:ext cx="914400" cy="3474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800600" y="503834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5669280" y="4974336"/>
            <a:ext cx="914400" cy="3474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715000" y="503834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5486400" y="1143000"/>
            <a:ext cx="3474720" cy="422452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62356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106" name="Shape 104"/>
          <p:cNvSpPr/>
          <p:nvPr/>
        </p:nvSpPr>
        <p:spPr>
          <a:xfrm>
            <a:off x="5760720" y="1600200"/>
            <a:ext cx="196596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7" name="Text 105"/>
          <p:cNvSpPr/>
          <p:nvPr/>
        </p:nvSpPr>
        <p:spPr>
          <a:xfrm>
            <a:off x="5760720" y="16459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3200" dirty="0"/>
          </a:p>
        </p:txBody>
      </p:sp>
      <p:sp>
        <p:nvSpPr>
          <p:cNvPr id="108" name="Text 106"/>
          <p:cNvSpPr/>
          <p:nvPr/>
        </p:nvSpPr>
        <p:spPr>
          <a:xfrm>
            <a:off x="5760720" y="22219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accuracy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5760720" y="2697480"/>
            <a:ext cx="196596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0" name="Text 108"/>
          <p:cNvSpPr/>
          <p:nvPr/>
        </p:nvSpPr>
        <p:spPr>
          <a:xfrm>
            <a:off x="5760720" y="27432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FP</a:t>
            </a:r>
            <a:endParaRPr lang="en-US" sz="3200" dirty="0"/>
          </a:p>
        </p:txBody>
      </p:sp>
      <p:sp>
        <p:nvSpPr>
          <p:cNvPr id="111" name="Text 109"/>
          <p:cNvSpPr/>
          <p:nvPr/>
        </p:nvSpPr>
        <p:spPr>
          <a:xfrm>
            <a:off x="5760720" y="331927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stackoverflow.com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ratio triggered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5623560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FP?</a:t>
            </a:r>
            <a:endParaRPr lang="en-US" sz="1100" dirty="0"/>
          </a:p>
        </p:txBody>
      </p:sp>
      <p:sp>
        <p:nvSpPr>
          <p:cNvPr id="113" name="Text 111"/>
          <p:cNvSpPr/>
          <p:nvPr/>
        </p:nvSpPr>
        <p:spPr>
          <a:xfrm>
            <a:off x="5623560" y="3913632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stackoverflow.com/questions/12345 — the numeric path '12345' raises digit_ratio and url_length features above phishing thresholds. Adding domain whitelist would fix this.</a:t>
            </a:r>
            <a:endParaRPr lang="en-US" sz="950" dirty="0"/>
          </a:p>
        </p:txBody>
      </p:sp>
      <p:sp>
        <p:nvSpPr>
          <p:cNvPr id="114" name="Text 11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| Mohamed Elsharkawy | UEL 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Demo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Streamlit Web Application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051560"/>
            <a:ext cx="5486400" cy="3794760"/>
          </a:xfrm>
          <a:prstGeom prst="rect">
            <a:avLst/>
          </a:prstGeom>
          <a:solidFill>
            <a:srgbClr val="010409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051560"/>
            <a:ext cx="54864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115568"/>
            <a:ext cx="155448" cy="15544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1115568"/>
            <a:ext cx="155448" cy="15544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1115568"/>
            <a:ext cx="155448" cy="15544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111556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phishguard.app — PhishGuard URL Detector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15087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PhishGuard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187452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Phishing URL Detection System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240280"/>
            <a:ext cx="365760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3042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http://secure-paypal-login.tk/verify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60520" y="2240280"/>
            <a:ext cx="1371600" cy="3840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23042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Analyse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788920"/>
            <a:ext cx="5120640" cy="1005840"/>
          </a:xfrm>
          <a:prstGeom prst="rect">
            <a:avLst/>
          </a:prstGeom>
          <a:solidFill>
            <a:srgbClr val="3D0C0C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2834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PHISHING DETECTED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4360" y="31455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Score: 99.9%  |  Do NOT visit this URL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34107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Phishing 99.99% / Legitimate 0.01%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1051560"/>
            <a:ext cx="3017520" cy="3794760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43600" y="1051560"/>
            <a:ext cx="54864" cy="37947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1143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Features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080760" y="1591056"/>
            <a:ext cx="128016" cy="12801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15727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3640" y="17739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Sub-200ms response on any machine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80760" y="2084832"/>
            <a:ext cx="128016" cy="12801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20665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breakdown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63640" y="22677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panel shows all 23 feature values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80760" y="2578608"/>
            <a:ext cx="128016" cy="128016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2560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63640" y="27614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for both classes displayed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80760" y="3072384"/>
            <a:ext cx="128016" cy="12801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30540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visualisation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63640" y="32552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result cards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80760" y="3566160"/>
            <a:ext cx="128016" cy="128016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35478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URL library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63640" y="37490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Pre-loaded phishing + legitimate examples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080760" y="4059936"/>
            <a:ext cx="128016" cy="12801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4041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metadata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263640" y="42428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shows performance metrics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943600" y="4572000"/>
            <a:ext cx="301752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35040" y="459943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| Mohamed Elsharkawy | UEL 2026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&amp; Project Structure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8 compliant, modular, fully documented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097280"/>
            <a:ext cx="4023360" cy="37490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18872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PhishGuard/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153619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config/config.py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188366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src/preprocessing/data_pipeline.py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223113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src/feature_engineering/url_features.py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257860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src/models/classifiers.py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292608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src/training/trainer.py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327355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src/evaluation/metrics.py  visualizer.py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6210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main.py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396849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app.py (Streamlit)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43159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requirements.txt  README.md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34840" y="1097280"/>
            <a:ext cx="2103120" cy="123444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120700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34840" y="15544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compliant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style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20840" y="1097280"/>
            <a:ext cx="2103120" cy="12344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120700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0840" y="15544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functions &amp; classes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2514600"/>
            <a:ext cx="2103120" cy="123444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262432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434840" y="29718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Single-responsibility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20840" y="2514600"/>
            <a:ext cx="2103120" cy="123444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262432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20840" y="29718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values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config/config.py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34840" y="3977640"/>
            <a:ext cx="4572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405079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engineering practices: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0" y="42976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| Error handling | Reproducible splits | Joblib serialisation | Git-ready structure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| Mohamed Elsharkawy | UEL 2026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and research roadmap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097280"/>
            <a:ext cx="4114800" cy="3749040"/>
          </a:xfrm>
          <a:prstGeom prst="rect">
            <a:avLst/>
          </a:prstGeom>
          <a:solidFill>
            <a:srgbClr val="161B22"/>
          </a:solidFill>
          <a:ln w="1524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097280"/>
            <a:ext cx="54864" cy="37490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188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Limitations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1572768"/>
            <a:ext cx="228600" cy="2286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15727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18013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phishing URLs include HTTPS sites, typosquatting, homograph attacks — harder to detect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350008"/>
            <a:ext cx="228600" cy="2286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23500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URL-only features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25786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legitimate domains (≈40% of phishing) cannot be detected without content analysis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127248"/>
            <a:ext cx="228600" cy="2286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1272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model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33558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continuous learning — as attackers adapt, model must be retrained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904488"/>
            <a:ext cx="228600" cy="2286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9044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adversarial testing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41330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not evaluated against evasion attacks targeting specific features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1097280"/>
            <a:ext cx="4114800" cy="3749040"/>
          </a:xfrm>
          <a:prstGeom prst="rect">
            <a:avLst/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097280"/>
            <a:ext cx="54864" cy="37490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1188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Work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28032" y="1591056"/>
            <a:ext cx="128016" cy="12801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15727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+ WHOIS features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0" y="177393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domain age, registrar info, DNS record type for harder cases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28032" y="2203704"/>
            <a:ext cx="128016" cy="12801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21854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0" y="238658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model updates from distributed users without centralising URLs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28032" y="2816352"/>
            <a:ext cx="128016" cy="12801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279806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training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0" y="29992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FGSM-inspired URL mutations to harden against targeted evasion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28032" y="3429000"/>
            <a:ext cx="128016" cy="12801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341071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29200" y="36118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ONNX-exported model directly in browser for client-side inference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28032" y="4041648"/>
            <a:ext cx="128016" cy="12801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40233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Kaggle evaluation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29200" y="422452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111-feature dataset for benchmark comparison with literature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| Mohamed Elsharkawy | UEL 2026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07024" y="0"/>
            <a:ext cx="64008" cy="51435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5486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🛡️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114800" cy="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256032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7335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23 URL features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90195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without any network I/O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256032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4942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 models trained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47802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DT, RF, XGBoost, MLP + Voting Ensemble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16352"/>
            <a:ext cx="256032" cy="25603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2549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99.78% F1-Score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05409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Ensemble on held-out test set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392424"/>
            <a:ext cx="256032" cy="25603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40156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&lt;0.2ms latency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63016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real-time browser deployment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968496"/>
            <a:ext cx="256032" cy="25603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9776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pipeline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2062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→ training → demo → report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521208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634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Welcome!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288036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Elsharkawy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u3293254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muslems2010s@gmail.com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UEL BSc Cybersecurity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PhishGuard — Phishing URL Detection System</dc:title>
  <dc:subject>PptxGenJS Presentation</dc:subject>
  <dc:creator>Mohamed Elsharkawy</dc:creator>
  <cp:lastModifiedBy>Mohamed Elsharkawy</cp:lastModifiedBy>
  <cp:revision>1</cp:revision>
  <dcterms:created xsi:type="dcterms:W3CDTF">2026-04-13T23:22:21Z</dcterms:created>
  <dcterms:modified xsi:type="dcterms:W3CDTF">2026-04-13T23:22:21Z</dcterms:modified>
</cp:coreProperties>
</file>